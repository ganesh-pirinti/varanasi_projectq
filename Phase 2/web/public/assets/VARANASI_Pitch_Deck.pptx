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" cy="4114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QISKIT FALL FEST 2026 — SRM UNIVERSITY-AP  |  TRACK: OPTIMIZATION</a:t>
            </a:r>
          </a:p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Quantum Optimization of Network Partitioning Using QAOA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Problem PS-O1  •  Hardware Co-Design Paradigm  •  Team VARANASI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108960"/>
            <a:ext cx="10332720" cy="1143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200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EXECUTIVE HYPOTHESIS &amp; SCIENTIFIC VERIFICATION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NISQ algorithms waste critical coherence on routing overhead. By co-designing Processor D to natively embed the PS-O1 interaction graph, we eliminate 100% of routing SWAPs, reducing physical CX gates by 14.3% and circuit depth by 21.6%, while delivering an optimal solution sampling probability of 12.50% (a 4.0x enhancement over uniform random guessing).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434840"/>
            <a:ext cx="2423160" cy="1234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526280"/>
            <a:ext cx="2240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Segoe UI"/>
              </a:defRPr>
            </a:pPr>
            <a:r>
              <a:t>0 SWAPs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-100% Routing Overhead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30752" y="4434840"/>
            <a:ext cx="2423160" cy="1234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22191" y="4526280"/>
            <a:ext cx="2240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Segoe UI"/>
              </a:defRPr>
            </a:pPr>
            <a:r>
              <a:t>18 CX Gates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-14.29% vs Generic B (21)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4224" y="4434840"/>
            <a:ext cx="2423160" cy="1234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4526280"/>
            <a:ext cx="2240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Segoe UI"/>
              </a:defRPr>
            </a:pPr>
            <a:r>
              <a:t>Depth 29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-21.62% vs Generic B (37)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7696" y="4434840"/>
            <a:ext cx="2423160" cy="1234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89136" y="4526280"/>
            <a:ext cx="2240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97316"/>
                </a:solidFill>
                <a:latin typeface="Segoe UI"/>
              </a:defRPr>
            </a:pPr>
            <a:r>
              <a:t>4.0x Sampling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12.50% vs 3.125% Random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8064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Team: VARANASI  |  Team ID: AP251100708044  |  Lead: Ganesh Pirinti  |  Release: Phase 2 Reproducible Submission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VARANASI (AP251100708044) | PS-O1 QAOA Network Partitioning | Qiskit Fall Fest 2026 — SRM University-AP | Slide 1 of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01 / PROBLEM FORMULATION &amp; EXACT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The Locked PS-O1 Graph: Exact Ground Truth &amp; Uniform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Rigorous classical verification guarantees an immutable reference before running quantum algorithms.</a:t>
            </a:r>
          </a:p>
        </p:txBody>
      </p:sp>
      <p:pic>
        <p:nvPicPr>
          <p:cNvPr id="6" name="Picture 5" descr="network_partitioning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486400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645920"/>
            <a:ext cx="493776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6B6D4"/>
                </a:solidFill>
              </a:defRPr>
            </a:pPr>
            <a:r>
              <a:t>•  Graph Topology: 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    6 vertices, 9 weighted edges, total graph weight = 27.</a:t>
            </a:r>
          </a:p>
          <a:p>
            <a:pPr>
              <a:defRPr b="1" sz="1100">
                <a:solidFill>
                  <a:srgbClr val="06B6D4"/>
                </a:solidFill>
              </a:defRPr>
            </a:pPr>
            <a:r>
              <a:t>•  Exact Maximum Cut (C*): 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    C* = 22 / 27 (81.48% of total edge weight; 7 / 9 edges cut).</a:t>
            </a:r>
          </a:p>
          <a:p>
            <a:pPr>
              <a:defRPr b="1" sz="1100">
                <a:solidFill>
                  <a:srgbClr val="06B6D4"/>
                </a:solidFill>
              </a:defRPr>
            </a:pPr>
            <a:r>
              <a:t>•  Optimal Partitions: 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    Exactly 2 bitwise-complement assignments reach C* = 22:</a:t>
            </a:r>
            <a:br/>
            <a:r>
              <a:t>  • S = {0, 1, 3} vs S' = {2, 4, 5}  (x = 110100)</a:t>
            </a:r>
            <a:br/>
            <a:r>
              <a:t>  • Complement assignment (x = 001011)</a:t>
            </a:r>
          </a:p>
          <a:p>
            <a:pPr>
              <a:defRPr b="1" sz="1100">
                <a:solidFill>
                  <a:srgbClr val="06B6D4"/>
                </a:solidFill>
              </a:defRPr>
            </a:pPr>
            <a:r>
              <a:t>•  Uniform Random Baseline: 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    Mean cut = 13.50, approximation ratio r = 0.6136.</a:t>
            </a:r>
            <a:br/>
            <a:r>
              <a:t>Random guessing hits optimum with probability P_opt = 2 / 64 = 3.125%.</a:t>
            </a:r>
          </a:p>
          <a:p>
            <a:pPr>
              <a:defRPr b="1" sz="1100">
                <a:solidFill>
                  <a:srgbClr val="06B6D4"/>
                </a:solidFill>
              </a:defRPr>
            </a:pPr>
            <a:r>
              <a:t>•  Mathematical Formulation: 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    Max-Cut Hamiltonian: H_C = sum_{(u,v)} w_{uv} (I - Z_u Z_v) / 2.</a:t>
            </a:r>
            <a:br/>
            <a:r>
              <a:t>Objective: Map ground state to bi-partition maximizing cut weight.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VARANASI (AP251100708044) | PS-O1 QAOA Network Partitioning | Qiskit Fall Fest 2026 — SRM University-AP | Slide 2 of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02 / HARDWARE ARCHITECTURES &amp; CO-DESIGN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Hardware Topologies: Capacity, Routing Bottlenecks, and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Benchmarking three distinct processors exposes why physical coupling geometry dictates QAOA efficiency.</a:t>
            </a:r>
          </a:p>
        </p:txBody>
      </p:sp>
      <p:pic>
        <p:nvPicPr>
          <p:cNvPr id="6" name="Picture 5" descr="processor_topolo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8655" cy="2926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754880"/>
            <a:ext cx="3413455" cy="1600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00600"/>
            <a:ext cx="31391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</a:defRPr>
            </a:pPr>
            <a:r>
              <a:t>Processor A (5 Qubits) — CAPACITY BOTTLENECK</a:t>
            </a:r>
          </a:p>
          <a:p>
            <a:pPr>
              <a:defRPr sz="919">
                <a:solidFill>
                  <a:srgbClr val="F8FAFC"/>
                </a:solidFill>
              </a:defRPr>
            </a:pPr>
            <a:r>
              <a:t>• 5 physical qubits &lt; 6 required logical qubits.</a:t>
            </a:r>
            <a:br/>
            <a:r>
              <a:t>• Transpilation impossible; marked executable: false.</a:t>
            </a:r>
            <a:br/>
            <a:r>
              <a:t>• Proves physical qubit capacity is a hard prerequisite.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754880"/>
            <a:ext cx="3413455" cy="1600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4800600"/>
            <a:ext cx="31391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Processor B (9 Qubits) — ROUTING BOTTLENECK</a:t>
            </a:r>
          </a:p>
          <a:p>
            <a:pPr>
              <a:defRPr sz="919">
                <a:solidFill>
                  <a:srgbClr val="F8FAFC"/>
                </a:solidFill>
              </a:defRPr>
            </a:pPr>
            <a:r>
              <a:t>• Generic heavy-hex/grid layout lacks direct edge (1, 4).</a:t>
            </a:r>
            <a:br/>
            <a:r>
              <a:t>• Transpiler inserts 1 SWAP gate (+3 CX overhead).</a:t>
            </a:r>
            <a:br/>
            <a:r>
              <a:t>• Results in CX = 21, Total Depth = 37, 2Q Depth = 17.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754880"/>
            <a:ext cx="3413455" cy="1600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4800600"/>
            <a:ext cx="31391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Processor D (9 Qubits) — VARANASI CO-DESIGN</a:t>
            </a:r>
          </a:p>
          <a:p>
            <a:pPr>
              <a:defRPr sz="919">
                <a:solidFill>
                  <a:srgbClr val="F8FAFC"/>
                </a:solidFill>
              </a:defRPr>
            </a:pPr>
            <a:r>
              <a:t>• Native 6-node core embeds all 9 PS-O1 edges directly.</a:t>
            </a:r>
            <a:br/>
            <a:r>
              <a:t>• Closed 3-node ancillary ring keeps max degree &lt;= 4.</a:t>
            </a:r>
            <a:br/>
            <a:r>
              <a:t>• ZERO SWAPs, CX = 18 (minimum possible), Depth = 29.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VARANASI (AP251100708044) | PS-O1 QAOA Network Partitioning | Qiskit Fall Fest 2026 — SRM University-AP | Slide 3 of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03 / TRANSPILATION METRICS &amp; RESOURCE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Quantitative Circuit Resource Reduction: Processor B vs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Problem-matched topology eliminates routing overhead and significantly reduces physical gate counts.</a:t>
            </a:r>
          </a:p>
        </p:txBody>
      </p:sp>
      <p:pic>
        <p:nvPicPr>
          <p:cNvPr id="6" name="Picture 5" descr="processor_resour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23760" y="1645920"/>
            <a:ext cx="4236415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783080"/>
            <a:ext cx="38706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HARDWARE CO-DESIGN GAINS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Physical CX Gates: 21 → 18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  ↳ -14.29% (-3 CX)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Total Circuit Depth: 37 → 29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  ↳ -21.62% (-8 Depth)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Two-Qubit Depth: 17 → 14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  ↳ -17.65% (-3 2Q Depth)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Routing SWAPs: 1 → 0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  ↳ -100.0% (Zero SWAPs)</a:t>
            </a:r>
          </a:p>
          <a:p>
            <a:br/>
            <a:pPr>
              <a:defRPr sz="950">
                <a:solidFill>
                  <a:srgbClr val="94A3B8"/>
                </a:solidFill>
              </a:defRPr>
            </a:pPr>
            <a:r>
              <a:t>Scientific Takeaway:</a:t>
            </a:r>
            <a:br/>
            <a:r>
              <a:t>On noisy hardware, two-qubit CX gates are the dominant source of depolarizing noise (p2 = 0.005 vs p1 = 0.001). Eliminating 3 CX gates saves ~1.5% fidelity loss per execution, proving the direct value of topology co-design.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VARANASI (AP251100708044) | PS-O1 QAOA Network Partitioning | Qiskit Fall Fest 2026 — SRM University-AP | Slide 4 of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04 / OBJECTIVE 1: HARDWARE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Processor D Verification: Bell State Tomography Across Distance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State tomography over near and far pairs validates physical fidelity and gate error accumulation.</a:t>
            </a:r>
          </a:p>
        </p:txBody>
      </p:sp>
      <p:pic>
        <p:nvPicPr>
          <p:cNvPr id="6" name="Picture 5" descr="bell_fidelit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645920"/>
            <a:ext cx="3687775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783080"/>
            <a:ext cx="33220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6B6D4"/>
                </a:solidFill>
              </a:defRPr>
            </a:pPr>
            <a:r>
              <a:t>•  Official Noise Model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   p1 = 0.001, p2(CX) = 0.005, p_readout = 0.01.</a:t>
            </a:r>
            <a:br/>
            <a:r>
              <a:t>4,096 shots per measurement basis.</a:t>
            </a:r>
          </a:p>
          <a:p>
            <a:pPr>
              <a:defRPr sz="1050" b="1">
                <a:solidFill>
                  <a:srgbClr val="06B6D4"/>
                </a:solidFill>
              </a:defRPr>
            </a:pPr>
            <a:r>
              <a:t>•  Near Pair (0, 2) — Dist 1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   Ideal Fidelity: 1.0000 ± 0.0000</a:t>
            </a:r>
            <a:br/>
            <a:r>
              <a:t>Noisy Fidelity: 0.9633 ± 0.0021</a:t>
            </a:r>
            <a:br/>
            <a:r>
              <a:t>Gate count: 1 CX gate (direct edge).</a:t>
            </a:r>
          </a:p>
          <a:p>
            <a:pPr>
              <a:defRPr sz="1050" b="1">
                <a:solidFill>
                  <a:srgbClr val="06B6D4"/>
                </a:solidFill>
              </a:defRPr>
            </a:pPr>
            <a:r>
              <a:t>•  Far Pair (0, 7) — Dist 4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   Ideal Fidelity: 1.0000 ± 0.0000</a:t>
            </a:r>
            <a:br/>
            <a:r>
              <a:t>Noisy Fidelity: 0.9420 ± 0.0026</a:t>
            </a:r>
            <a:br/>
            <a:r>
              <a:t>Gate count: 10 CX gates (via SWAP routing).</a:t>
            </a:r>
          </a:p>
          <a:p>
            <a:pPr>
              <a:defRPr sz="1050" b="1">
                <a:solidFill>
                  <a:srgbClr val="06B6D4"/>
                </a:solidFill>
              </a:defRPr>
            </a:pPr>
            <a:r>
              <a:t>•  Physical Interpretation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   Fidelity drops by 2.13 percentage points from dist 1 to dist 4, exactly tracking cumulative CX depolarizing error and readout bit-flips.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VARANASI (AP251100708044) | PS-O1 QAOA Network Partitioning | Qiskit Fall Fest 2026 — SRM University-AP | Slide 5 of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05 / QAOA PERFORMANCE &amp; STOCHASTIC DOMINANCE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Sampled Cut Distribution: 4.0x Optimal Solution Sampling Enhancement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Both processors achieve numerically indistinguishable approximation ratios while outperforming random baseline.</a:t>
            </a:r>
          </a:p>
        </p:txBody>
      </p:sp>
      <p:pic>
        <p:nvPicPr>
          <p:cNvPr id="6" name="Picture 5" descr="qaoa_cu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645920"/>
            <a:ext cx="3687775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783080"/>
            <a:ext cx="33220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97316"/>
                </a:solidFill>
              </a:defRPr>
            </a:pPr>
            <a:r>
              <a:t>•  Noisy Approx Ratio (r)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   Processor B: r = 0.7874 (Mean = 17.32)</a:t>
            </a:r>
            <a:br/>
            <a:r>
              <a:t>Processor D: r = 0.7862 (Mean = 17.30)</a:t>
            </a:r>
            <a:br/>
            <a:r>
              <a:t>Difference: -0.0012 (-0.15% relative).</a:t>
            </a:r>
            <a:br/>
            <a:r>
              <a:t>Numerically indistinguishable under shot noise!</a:t>
            </a:r>
          </a:p>
          <a:p>
            <a:pPr>
              <a:defRPr sz="1050" b="1">
                <a:solidFill>
                  <a:srgbClr val="F97316"/>
                </a:solidFill>
              </a:defRPr>
            </a:pPr>
            <a:r>
              <a:t>•  Optimal Cut (C* = 22) Hits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   Processor B: 516 / 4096 (12.60%)</a:t>
            </a:r>
            <a:br/>
            <a:r>
              <a:t>Processor D: 512 / 4096 (12.50%)</a:t>
            </a:r>
            <a:br/>
            <a:r>
              <a:t>Uniform Random: 2 / 64 (3.125%)</a:t>
            </a:r>
          </a:p>
          <a:p>
            <a:pPr>
              <a:defRPr sz="1050" b="1">
                <a:solidFill>
                  <a:srgbClr val="F97316"/>
                </a:solidFill>
              </a:defRPr>
            </a:pPr>
            <a:r>
              <a:t>•  4.0x Sampling Enhancement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   QAOA concentrates probability on optimal bi-partitions {0,1,3} and {2,4,5} with 4.0x greater likelihood than uniform random guessing.</a:t>
            </a:r>
          </a:p>
          <a:p>
            <a:pPr>
              <a:defRPr sz="1050" b="1">
                <a:solidFill>
                  <a:srgbClr val="F97316"/>
                </a:solidFill>
              </a:defRPr>
            </a:pPr>
            <a:r>
              <a:t>•  Stochastic Dominance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   Complementary CDF P(C &gt;= c) shows QAOA strictly dominates the random baseline across all thresholds c &gt;= 14.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VARANASI (AP251100708044) | PS-O1 QAOA Network Partitioning | Qiskit Fall Fest 2026 — SRM University-AP | Slide 6 of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06 / ALGORITHMIC LANDSCAPE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Statevector Parameter Landscape &amp; Co-Design Pareto Frontier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Co-design provides decisive hardware efficiency gains without compromising algorithmic solution quality.</a:t>
            </a:r>
          </a:p>
        </p:txBody>
      </p:sp>
      <p:pic>
        <p:nvPicPr>
          <p:cNvPr id="6" name="Picture 5" descr="qaoa_parameter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114800" cy="4480560"/>
          </a:xfrm>
          <a:prstGeom prst="rect">
            <a:avLst/>
          </a:prstGeom>
        </p:spPr>
      </p:pic>
      <p:pic>
        <p:nvPicPr>
          <p:cNvPr id="7" name="Picture 6" descr="architecture_tradeoff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45920"/>
            <a:ext cx="3840480" cy="4480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052560" y="1645920"/>
            <a:ext cx="2407615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1783080"/>
            <a:ext cx="22247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6B6D4"/>
                </a:solidFill>
              </a:defRPr>
            </a:pPr>
            <a:r>
              <a:t>CORE SYNTHESIS</a:t>
            </a:r>
          </a:p>
          <a:p>
            <a:pPr>
              <a:defRPr sz="919">
                <a:solidFill>
                  <a:srgbClr val="F8FAFC"/>
                </a:solidFill>
              </a:defRPr>
            </a:pPr>
            <a:r>
              <a:t>1. Parameter Landscape:</a:t>
            </a:r>
            <a:br/>
            <a:r>
              <a:t>Statevector optimization reaches global minimum at γ* = -0.1680, β* = 0.3327 with &lt;C&gt; = 17.71 (r = 0.8051).</a:t>
            </a:r>
            <a:br/>
            <a:br/>
            <a:r>
              <a:t>2. Co-Design Shift:</a:t>
            </a:r>
            <a:br/>
            <a:r>
              <a:t>Processor D shifts the Pareto frontier leftward: eliminating 14.3% CX gates and 21.6% depth while preserving solution quality (r = 0.7862).</a:t>
            </a:r>
            <a:br/>
            <a:br/>
            <a:r>
              <a:t>3. Future Impact:</a:t>
            </a:r>
            <a:br/>
            <a:r>
              <a:t>As QAOA scales to deeper circuits (p &gt;= 2), eliminating routing overhead compounds multiplicatively.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VARANASI (AP251100708044) | PS-O1 QAOA Network Partitioning | Qiskit Fall Fest 2026 — SRM University-AP | Slide 7 of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BACKUP / OFFICIAL AUDIT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Official Challenge Kit Compliance Matrix: 100% Verified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Exhaustive verification against QFF 2026 Phase 2 Rules confirms absolute compliance.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8FAFC"/>
                </a:solidFill>
                <a:latin typeface="Segoe UI"/>
              </a:defRPr>
            </a:pPr>
            <a:r>
              <a:t>[PASS]  Processor Scope: Processors A, B, and D evaluated. Processor C is explicitly ruled out in Challenge Kit Section 12 FAQ.</a:t>
            </a:r>
          </a:p>
          <a:p>
            <a:pPr>
              <a:defRPr sz="1050">
                <a:solidFill>
                  <a:srgbClr val="F8FAFC"/>
                </a:solidFill>
                <a:latin typeface="Segoe UI"/>
              </a:defRPr>
            </a:pPr>
            <a:r>
              <a:t>[PASS]  Processor D Constraints: 9 qubits (&lt;= 12), connected topology, max node degree = 4 (&lt;= 4), basis gates ['rz', 'sx', 'x', 'cx'].</a:t>
            </a:r>
          </a:p>
          <a:p>
            <a:pPr>
              <a:defRPr sz="1050">
                <a:solidFill>
                  <a:srgbClr val="F8FAFC"/>
                </a:solidFill>
                <a:latin typeface="Segoe UI"/>
              </a:defRPr>
            </a:pPr>
            <a:r>
              <a:t>[PASS]  Noise Model: Official depolarizing (p1=0.001, p2=0.005) and readout bit-flip (p=0.01) implemented identically.</a:t>
            </a:r>
          </a:p>
          <a:p>
            <a:pPr>
              <a:defRPr sz="1050">
                <a:solidFill>
                  <a:srgbClr val="F8FAFC"/>
                </a:solidFill>
                <a:latin typeface="Segoe UI"/>
              </a:defRPr>
            </a:pPr>
            <a:r>
              <a:t>[PASS]  Execution Budget: 4,096 shots per run across all 4 benchmark configurations (16,384 total QAOA shots) + 16,384 Bell shots.</a:t>
            </a:r>
          </a:p>
          <a:p>
            <a:pPr>
              <a:defRPr sz="1050">
                <a:solidFill>
                  <a:srgbClr val="F8FAFC"/>
                </a:solidFill>
                <a:latin typeface="Segoe UI"/>
              </a:defRPr>
            </a:pPr>
            <a:r>
              <a:t>[PASS]  Capacity Enforcement: Processor A (5 qubits) rigorously reported as non-executable for 6-qubit PS-O1 instance.</a:t>
            </a:r>
          </a:p>
          <a:p>
            <a:pPr>
              <a:defRPr sz="1050">
                <a:solidFill>
                  <a:srgbClr val="F8FAFC"/>
                </a:solidFill>
                <a:latin typeface="Segoe UI"/>
              </a:defRPr>
            </a:pPr>
            <a:r>
              <a:t>[PASS]  Reproducibility: Independent 14-test suite validates bitstring cut weights, optimal counts, and statistical reproducibility.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VARANASI (AP251100708044) | PS-O1 QAOA Network Partitioning | Qiskit Fall Fest 2026 — SRM University-AP | Slide 8 of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BACKUP / ADVERSARIAL DEFENSE &amp;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Adversarial Defense: Addressing Key Evaluator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Grounding claims in real statistical evidence eliminates speculative assertions and ensures total credibility.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6B6D4"/>
                </a:solidFill>
              </a:defRPr>
            </a:pPr>
            <a:r>
              <a:t>Q: Why does Processor D have slightly lower noisy approximation ratio than B (0.7862 vs 0.7874)?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A: With 4,096 shots, the standard error of the mean cut is ~0.06 (approx ratio SE ~ 0.0027). A delta of -0.0012 (-0.15% relative) is well within shot noise. We do not claim D produces a higher mean cut; D's verified achievement is architectural: eliminating 14.3% CX gates and 21.6% depth.</a:t>
            </a:r>
            <a:br/>
          </a:p>
          <a:p>
            <a:pPr>
              <a:defRPr sz="1050" b="1">
                <a:solidFill>
                  <a:srgbClr val="06B6D4"/>
                </a:solidFill>
              </a:defRPr>
            </a:pPr>
            <a:r>
              <a:t>Q: Why p=1 instead of p=2?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A: In the official kit, p=1 is mandatory, p=2 is optional. At p=1, noise is constrained, allowing direct attribution of routing overhead vs hardware fidelity. We validated the multi-seed optimizer across 5 seeds, selecting the optimal (seed 3).</a:t>
            </a:r>
            <a:br/>
          </a:p>
          <a:p>
            <a:pPr>
              <a:defRPr sz="1050" b="1">
                <a:solidFill>
                  <a:srgbClr val="06B6D4"/>
                </a:solidFill>
              </a:defRPr>
            </a:pPr>
            <a:r>
              <a:t>Q: Did you observe quantum algorithmic speedup?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A: No. We strictly distinguish sampling probability enhancement (4.0x over uniform random) from wall-clock quantum speedup. On 6 qubits, classical enumeration takes &lt; 1 ms; our contribution is architecture co-design on NISQ devices.</a:t>
            </a:r>
            <a:br/>
          </a:p>
          <a:p>
            <a:pPr>
              <a:defRPr sz="1050" b="1">
                <a:solidFill>
                  <a:srgbClr val="06B6D4"/>
                </a:solidFill>
              </a:defRPr>
            </a:pPr>
            <a:r>
              <a:t>Q: What AI tools were utilized?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A: Disclosed in all documentation: AI coding assistants were used for script scaffolding, formatting, and test automation. All quantum circuit logic, processor topologies, and data verification are authentic and reproducible.</a:t>
            </a:r>
            <a:br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VARANASI (AP251100708044) | PS-O1 QAOA Network Partitioning | Qiskit Fall Fest 2026 — SRM University-AP | Slide 9 of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